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" charset="1" panose="020B0604020202020204"/>
      <p:regular r:id="rId21"/>
    </p:embeddedFont>
    <p:embeddedFont>
      <p:font typeface="Arial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18" r="0" b="-33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95803"/>
            <a:ext cx="8541955" cy="106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1"/>
              </a:lnSpc>
              <a:spcBef>
                <a:spcPct val="0"/>
              </a:spcBef>
            </a:pPr>
            <a:r>
              <a:rPr lang="en-US" sz="6108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DIPLOMATURA EN 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060556" y="1028700"/>
            <a:ext cx="4346340" cy="4346340"/>
          </a:xfrm>
          <a:custGeom>
            <a:avLst/>
            <a:gdLst/>
            <a:ahLst/>
            <a:cxnLst/>
            <a:rect r="r" b="b" t="t" l="l"/>
            <a:pathLst>
              <a:path h="4346340" w="4346340">
                <a:moveTo>
                  <a:pt x="0" y="0"/>
                </a:moveTo>
                <a:lnTo>
                  <a:pt x="4346340" y="0"/>
                </a:lnTo>
                <a:lnTo>
                  <a:pt x="4346340" y="4346340"/>
                </a:lnTo>
                <a:lnTo>
                  <a:pt x="0" y="434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425227"/>
            <a:ext cx="9206521" cy="106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1"/>
              </a:lnSpc>
              <a:spcBef>
                <a:spcPct val="0"/>
              </a:spcBef>
            </a:pPr>
            <a:r>
              <a:rPr lang="en-US" sz="6108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TRABAJO PRACTICO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85020"/>
            <a:ext cx="14011848" cy="165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Análisis Exploratorio de Datos (EDA) - </a:t>
            </a:r>
          </a:p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Planta de Flotación (Proceso Minero)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941355"/>
            <a:ext cx="14011848" cy="82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Alumno: Cocha Jorge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5825"/>
            <a:ext cx="11251341" cy="106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1"/>
              </a:lnSpc>
              <a:spcBef>
                <a:spcPct val="0"/>
              </a:spcBef>
            </a:pPr>
            <a:r>
              <a:rPr lang="en-US" b="true" sz="6108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UNIVERSIDAD DE PALERMO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18" r="0" b="-33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3450" y="8642450"/>
            <a:ext cx="1231699" cy="1231699"/>
          </a:xfrm>
          <a:custGeom>
            <a:avLst/>
            <a:gdLst/>
            <a:ahLst/>
            <a:cxnLst/>
            <a:rect r="r" b="b" t="t" l="l"/>
            <a:pathLst>
              <a:path h="1231699" w="1231699">
                <a:moveTo>
                  <a:pt x="0" y="0"/>
                </a:moveTo>
                <a:lnTo>
                  <a:pt x="1231700" y="0"/>
                </a:lnTo>
                <a:lnTo>
                  <a:pt x="1231700" y="1231700"/>
                </a:lnTo>
                <a:lnTo>
                  <a:pt x="0" y="12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4171"/>
            <a:ext cx="14011848" cy="165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Análisis Exploratorio de Datos (EDA) - </a:t>
            </a:r>
          </a:p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Planta de Flotación (Proceso Minero)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46885"/>
            <a:ext cx="15614750" cy="751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</a:pPr>
            <a:r>
              <a:rPr lang="en-US" sz="30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Sobre el Dataset</a:t>
            </a:r>
          </a:p>
          <a:p>
            <a:pPr algn="just" marL="647700" indent="-323850" lvl="1">
              <a:lnSpc>
                <a:spcPts val="4980"/>
              </a:lnSpc>
              <a:buFont typeface="Arial"/>
              <a:buChar char="•"/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Fue</a:t>
            </a: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nte:</a:t>
            </a:r>
            <a:r>
              <a:rPr lang="en-US" sz="30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Kaggle (Quality Prediction in a Mining Process).</a:t>
            </a:r>
          </a:p>
          <a:p>
            <a:pPr algn="just">
              <a:lnSpc>
                <a:spcPts val="4980"/>
              </a:lnSpc>
            </a:pPr>
          </a:p>
          <a:p>
            <a:pPr algn="just" marL="647700" indent="-323850" lvl="1">
              <a:lnSpc>
                <a:spcPts val="4980"/>
              </a:lnSpc>
              <a:buFont typeface="Arial"/>
              <a:buChar char="•"/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Volumen original: </a:t>
            </a:r>
            <a:r>
              <a:rPr lang="en-US" sz="30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+730.000 registros.</a:t>
            </a:r>
          </a:p>
          <a:p>
            <a:pPr algn="just">
              <a:lnSpc>
                <a:spcPts val="4980"/>
              </a:lnSpc>
            </a:pPr>
          </a:p>
          <a:p>
            <a:pPr algn="just" marL="647700" indent="-323850" lvl="1">
              <a:lnSpc>
                <a:spcPts val="4980"/>
              </a:lnSpc>
              <a:buFont typeface="Arial"/>
              <a:buChar char="•"/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Procesamiento y Muestreo:</a:t>
            </a:r>
            <a:r>
              <a:rPr lang="en-US" sz="30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Se realizó una limpieza de duplicados generados por la adquisición de datos de los instrumentos y se aplicó un muestreo estratificado. Se extrajeron 50.000 filas por guardia operativa (Turno Día y Turno Noche) para asegurar un rigor estadístico del 50/50 y evitar sesgos de análisis.</a:t>
            </a:r>
          </a:p>
          <a:p>
            <a:pPr algn="just">
              <a:lnSpc>
                <a:spcPts val="4980"/>
              </a:lnSpc>
            </a:pPr>
          </a:p>
          <a:p>
            <a:pPr algn="just" marL="647700" indent="-323850" lvl="1">
              <a:lnSpc>
                <a:spcPts val="4980"/>
              </a:lnSpc>
              <a:buFont typeface="Arial"/>
              <a:buChar char="•"/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Variables: </a:t>
            </a:r>
            <a:r>
              <a:rPr lang="en-US" sz="30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24 columnas numéricas originales, ampliadas con variables categóricas derivadas de la temporalidad (Turno) y el rendimiento (Calidad_Silica).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18" r="0" b="-33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3450" y="8642450"/>
            <a:ext cx="1231699" cy="1231699"/>
          </a:xfrm>
          <a:custGeom>
            <a:avLst/>
            <a:gdLst/>
            <a:ahLst/>
            <a:cxnLst/>
            <a:rect r="r" b="b" t="t" l="l"/>
            <a:pathLst>
              <a:path h="1231699" w="1231699">
                <a:moveTo>
                  <a:pt x="0" y="0"/>
                </a:moveTo>
                <a:lnTo>
                  <a:pt x="1231700" y="0"/>
                </a:lnTo>
                <a:lnTo>
                  <a:pt x="1231700" y="1231700"/>
                </a:lnTo>
                <a:lnTo>
                  <a:pt x="0" y="12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4171"/>
            <a:ext cx="14011848" cy="165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Análisis Exploratorio de Datos (EDA) - </a:t>
            </a:r>
          </a:p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Planta de Flotación (Proceso Minero)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56054"/>
            <a:ext cx="16846450" cy="751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Hipótesis Planteadas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Durante el análisis, se plantearon preguntas con un enfoque directo en la ingeniería de procesos: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Mineralogía y "Efecto Espejo":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¿Se puede verificar matemáticamente una correlación negativa perfecta entre la recuperación del hierro y el rechazo de sílice?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Saturación de Reactivos: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¿La relación entre la dosificación de químicos (Almidón/Amina) y la pureza es lineal, o existe un punto de saturación que justifique abandonar el control PID tradicional por un control avanzado predictivo?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Estabilidad Operativa: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¿El cambio de guardia (Turno Día vs. Noche) y las condiciones asociadas afectan la dispersión y calidad del producto final?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Habilitación por pH: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¿Actúa el pH de la pulpa estrictamente como una variable de acondicionamiento previa a la flotación?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5723041"/>
            <a:ext cx="4563959" cy="4563959"/>
          </a:xfrm>
          <a:custGeom>
            <a:avLst/>
            <a:gdLst/>
            <a:ahLst/>
            <a:cxnLst/>
            <a:rect r="r" b="b" t="t" l="l"/>
            <a:pathLst>
              <a:path h="4563959" w="4563959">
                <a:moveTo>
                  <a:pt x="0" y="0"/>
                </a:moveTo>
                <a:lnTo>
                  <a:pt x="4563959" y="0"/>
                </a:lnTo>
                <a:lnTo>
                  <a:pt x="4563959" y="4563959"/>
                </a:lnTo>
                <a:lnTo>
                  <a:pt x="0" y="4563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38235" y="4167183"/>
            <a:ext cx="6119817" cy="6119817"/>
          </a:xfrm>
          <a:custGeom>
            <a:avLst/>
            <a:gdLst/>
            <a:ahLst/>
            <a:cxnLst/>
            <a:rect r="r" b="b" t="t" l="l"/>
            <a:pathLst>
              <a:path h="6119817" w="6119817">
                <a:moveTo>
                  <a:pt x="0" y="0"/>
                </a:moveTo>
                <a:lnTo>
                  <a:pt x="6119817" y="0"/>
                </a:lnTo>
                <a:lnTo>
                  <a:pt x="6119817" y="6119817"/>
                </a:lnTo>
                <a:lnTo>
                  <a:pt x="0" y="611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9002" y="1021027"/>
            <a:ext cx="9265973" cy="9265973"/>
          </a:xfrm>
          <a:custGeom>
            <a:avLst/>
            <a:gdLst/>
            <a:ahLst/>
            <a:cxnLst/>
            <a:rect r="r" b="b" t="t" l="l"/>
            <a:pathLst>
              <a:path h="9265973" w="9265973">
                <a:moveTo>
                  <a:pt x="0" y="0"/>
                </a:moveTo>
                <a:lnTo>
                  <a:pt x="9265973" y="0"/>
                </a:lnTo>
                <a:lnTo>
                  <a:pt x="9265973" y="9265973"/>
                </a:lnTo>
                <a:lnTo>
                  <a:pt x="0" y="9265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96764" y="512492"/>
            <a:ext cx="9375651" cy="8943928"/>
          </a:xfrm>
          <a:custGeom>
            <a:avLst/>
            <a:gdLst/>
            <a:ahLst/>
            <a:cxnLst/>
            <a:rect r="r" b="b" t="t" l="l"/>
            <a:pathLst>
              <a:path h="8943928" w="9375651">
                <a:moveTo>
                  <a:pt x="0" y="0"/>
                </a:moveTo>
                <a:lnTo>
                  <a:pt x="9375651" y="0"/>
                </a:lnTo>
                <a:lnTo>
                  <a:pt x="9375651" y="8943928"/>
                </a:lnTo>
                <a:lnTo>
                  <a:pt x="0" y="894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79026" b="-1096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9618" y="528661"/>
            <a:ext cx="7737236" cy="876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it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uac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ón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Actual: Ca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id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d d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Pro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ucción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Eficiencia base: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El 74.7% del mineral procesado alcanza el estándar de "Alta Pureza" (Sílice &lt; 3.0%).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Estabilidad inicial: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La planta logra un buen rendimiento general con los lazos de control actuales.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El desafío: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Optimizar la dosificación de reactivos para controlar ese 25.3% restante sin incurrir en sobrecostos químicos.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5723041"/>
            <a:ext cx="4563959" cy="4563959"/>
          </a:xfrm>
          <a:custGeom>
            <a:avLst/>
            <a:gdLst/>
            <a:ahLst/>
            <a:cxnLst/>
            <a:rect r="r" b="b" t="t" l="l"/>
            <a:pathLst>
              <a:path h="4563959" w="4563959">
                <a:moveTo>
                  <a:pt x="0" y="0"/>
                </a:moveTo>
                <a:lnTo>
                  <a:pt x="4563959" y="0"/>
                </a:lnTo>
                <a:lnTo>
                  <a:pt x="4563959" y="4563959"/>
                </a:lnTo>
                <a:lnTo>
                  <a:pt x="0" y="4563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38235" y="4167183"/>
            <a:ext cx="6119817" cy="6119817"/>
          </a:xfrm>
          <a:custGeom>
            <a:avLst/>
            <a:gdLst/>
            <a:ahLst/>
            <a:cxnLst/>
            <a:rect r="r" b="b" t="t" l="l"/>
            <a:pathLst>
              <a:path h="6119817" w="6119817">
                <a:moveTo>
                  <a:pt x="0" y="0"/>
                </a:moveTo>
                <a:lnTo>
                  <a:pt x="6119817" y="0"/>
                </a:lnTo>
                <a:lnTo>
                  <a:pt x="6119817" y="6119817"/>
                </a:lnTo>
                <a:lnTo>
                  <a:pt x="0" y="611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9002" y="1021027"/>
            <a:ext cx="9265973" cy="9265973"/>
          </a:xfrm>
          <a:custGeom>
            <a:avLst/>
            <a:gdLst/>
            <a:ahLst/>
            <a:cxnLst/>
            <a:rect r="r" b="b" t="t" l="l"/>
            <a:pathLst>
              <a:path h="9265973" w="9265973">
                <a:moveTo>
                  <a:pt x="0" y="0"/>
                </a:moveTo>
                <a:lnTo>
                  <a:pt x="9265973" y="0"/>
                </a:lnTo>
                <a:lnTo>
                  <a:pt x="9265973" y="9265973"/>
                </a:lnTo>
                <a:lnTo>
                  <a:pt x="0" y="9265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2815" y="1750905"/>
            <a:ext cx="14602371" cy="625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Es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ta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b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ilidad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Op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erativa: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Tu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r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n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Día vs. No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he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Rigor estadíst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ico: Análisis fundamentado en un muestreo estratificado (50.000 lecturas por turno) para eliminar sesgos.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Operación e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standarizada: El control de planta absorbe las transiciones de guardia de manera excelente.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Conclusión: Las variaciones en la pureza final dependen de la dinámica del circuito, no de la intervención manual de los operadores.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0" y="-5152025"/>
            <a:ext cx="18600791" cy="18600791"/>
          </a:xfrm>
          <a:custGeom>
            <a:avLst/>
            <a:gdLst/>
            <a:ahLst/>
            <a:cxnLst/>
            <a:rect r="r" b="b" t="t" l="l"/>
            <a:pathLst>
              <a:path h="18600791" w="18600791">
                <a:moveTo>
                  <a:pt x="0" y="18600792"/>
                </a:moveTo>
                <a:lnTo>
                  <a:pt x="18600791" y="18600792"/>
                </a:lnTo>
                <a:lnTo>
                  <a:pt x="18600791" y="0"/>
                </a:lnTo>
                <a:lnTo>
                  <a:pt x="0" y="0"/>
                </a:lnTo>
                <a:lnTo>
                  <a:pt x="0" y="186007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609959" y="9608959"/>
            <a:ext cx="435801" cy="435801"/>
          </a:xfrm>
          <a:custGeom>
            <a:avLst/>
            <a:gdLst/>
            <a:ahLst/>
            <a:cxnLst/>
            <a:rect r="r" b="b" t="t" l="l"/>
            <a:pathLst>
              <a:path h="435801" w="435801">
                <a:moveTo>
                  <a:pt x="0" y="435802"/>
                </a:moveTo>
                <a:lnTo>
                  <a:pt x="435802" y="435802"/>
                </a:lnTo>
                <a:lnTo>
                  <a:pt x="435802" y="0"/>
                </a:lnTo>
                <a:lnTo>
                  <a:pt x="0" y="0"/>
                </a:lnTo>
                <a:lnTo>
                  <a:pt x="0" y="435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0070" y="185739"/>
            <a:ext cx="17827860" cy="4957761"/>
          </a:xfrm>
          <a:custGeom>
            <a:avLst/>
            <a:gdLst/>
            <a:ahLst/>
            <a:cxnLst/>
            <a:rect r="r" b="b" t="t" l="l"/>
            <a:pathLst>
              <a:path h="4957761" w="17827860">
                <a:moveTo>
                  <a:pt x="0" y="0"/>
                </a:moveTo>
                <a:lnTo>
                  <a:pt x="17827860" y="0"/>
                </a:lnTo>
                <a:lnTo>
                  <a:pt x="17827860" y="4957761"/>
                </a:lnTo>
                <a:lnTo>
                  <a:pt x="0" y="49577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83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3212" y="5143500"/>
            <a:ext cx="13134368" cy="5087000"/>
          </a:xfrm>
          <a:custGeom>
            <a:avLst/>
            <a:gdLst/>
            <a:ahLst/>
            <a:cxnLst/>
            <a:rect r="r" b="b" t="t" l="l"/>
            <a:pathLst>
              <a:path h="5087000" w="13134368">
                <a:moveTo>
                  <a:pt x="0" y="0"/>
                </a:moveTo>
                <a:lnTo>
                  <a:pt x="13134368" y="0"/>
                </a:lnTo>
                <a:lnTo>
                  <a:pt x="13134368" y="5087000"/>
                </a:lnTo>
                <a:lnTo>
                  <a:pt x="0" y="50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677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5723041"/>
            <a:ext cx="4563959" cy="4563959"/>
          </a:xfrm>
          <a:custGeom>
            <a:avLst/>
            <a:gdLst/>
            <a:ahLst/>
            <a:cxnLst/>
            <a:rect r="r" b="b" t="t" l="l"/>
            <a:pathLst>
              <a:path h="4563959" w="4563959">
                <a:moveTo>
                  <a:pt x="0" y="0"/>
                </a:moveTo>
                <a:lnTo>
                  <a:pt x="4563959" y="0"/>
                </a:lnTo>
                <a:lnTo>
                  <a:pt x="4563959" y="4563959"/>
                </a:lnTo>
                <a:lnTo>
                  <a:pt x="0" y="4563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38235" y="4167183"/>
            <a:ext cx="6119817" cy="6119817"/>
          </a:xfrm>
          <a:custGeom>
            <a:avLst/>
            <a:gdLst/>
            <a:ahLst/>
            <a:cxnLst/>
            <a:rect r="r" b="b" t="t" l="l"/>
            <a:pathLst>
              <a:path h="6119817" w="6119817">
                <a:moveTo>
                  <a:pt x="0" y="0"/>
                </a:moveTo>
                <a:lnTo>
                  <a:pt x="6119817" y="0"/>
                </a:lnTo>
                <a:lnTo>
                  <a:pt x="6119817" y="6119817"/>
                </a:lnTo>
                <a:lnTo>
                  <a:pt x="0" y="611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9002" y="1021027"/>
            <a:ext cx="9265973" cy="9265973"/>
          </a:xfrm>
          <a:custGeom>
            <a:avLst/>
            <a:gdLst/>
            <a:ahLst/>
            <a:cxnLst/>
            <a:rect r="r" b="b" t="t" l="l"/>
            <a:pathLst>
              <a:path h="9265973" w="9265973">
                <a:moveTo>
                  <a:pt x="0" y="0"/>
                </a:moveTo>
                <a:lnTo>
                  <a:pt x="9265973" y="0"/>
                </a:lnTo>
                <a:lnTo>
                  <a:pt x="9265973" y="9265973"/>
                </a:lnTo>
                <a:lnTo>
                  <a:pt x="0" y="9265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2815" y="1945005"/>
            <a:ext cx="14602371" cy="625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Evo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lución Temp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ral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y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el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"Efect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Esp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jo"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Largo plaz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Monitoreo del comportamiento de las columnas de flotación a lo largo de los meses.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Correlación vi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sual: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Evidencia física en tiempo real: los valles en la recuperación de hierro coinciden exactamente con los picos de sílice.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El hueco de datos: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Las interrupciones en la lectura reflejan la realidad operativa de la planta (paradas de mantenimiento o caídas del historiador).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889897" y="-522246"/>
            <a:ext cx="10809246" cy="10809246"/>
          </a:xfrm>
          <a:custGeom>
            <a:avLst/>
            <a:gdLst/>
            <a:ahLst/>
            <a:cxnLst/>
            <a:rect r="r" b="b" t="t" l="l"/>
            <a:pathLst>
              <a:path h="10809246" w="10809246">
                <a:moveTo>
                  <a:pt x="0" y="0"/>
                </a:moveTo>
                <a:lnTo>
                  <a:pt x="10809246" y="0"/>
                </a:lnTo>
                <a:lnTo>
                  <a:pt x="10809246" y="10809246"/>
                </a:lnTo>
                <a:lnTo>
                  <a:pt x="0" y="10809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609959" y="9608959"/>
            <a:ext cx="435801" cy="435801"/>
          </a:xfrm>
          <a:custGeom>
            <a:avLst/>
            <a:gdLst/>
            <a:ahLst/>
            <a:cxnLst/>
            <a:rect r="r" b="b" t="t" l="l"/>
            <a:pathLst>
              <a:path h="435801" w="435801">
                <a:moveTo>
                  <a:pt x="0" y="435802"/>
                </a:moveTo>
                <a:lnTo>
                  <a:pt x="435802" y="435802"/>
                </a:lnTo>
                <a:lnTo>
                  <a:pt x="435802" y="0"/>
                </a:lnTo>
                <a:lnTo>
                  <a:pt x="0" y="0"/>
                </a:lnTo>
                <a:lnTo>
                  <a:pt x="0" y="435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16546" y="0"/>
            <a:ext cx="14254908" cy="10134992"/>
          </a:xfrm>
          <a:custGeom>
            <a:avLst/>
            <a:gdLst/>
            <a:ahLst/>
            <a:cxnLst/>
            <a:rect r="r" b="b" t="t" l="l"/>
            <a:pathLst>
              <a:path h="10134992" w="14254908">
                <a:moveTo>
                  <a:pt x="0" y="0"/>
                </a:moveTo>
                <a:lnTo>
                  <a:pt x="14254908" y="0"/>
                </a:lnTo>
                <a:lnTo>
                  <a:pt x="14254908" y="10134992"/>
                </a:lnTo>
                <a:lnTo>
                  <a:pt x="0" y="10134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5723041"/>
            <a:ext cx="4563959" cy="4563959"/>
          </a:xfrm>
          <a:custGeom>
            <a:avLst/>
            <a:gdLst/>
            <a:ahLst/>
            <a:cxnLst/>
            <a:rect r="r" b="b" t="t" l="l"/>
            <a:pathLst>
              <a:path h="4563959" w="4563959">
                <a:moveTo>
                  <a:pt x="0" y="0"/>
                </a:moveTo>
                <a:lnTo>
                  <a:pt x="4563959" y="0"/>
                </a:lnTo>
                <a:lnTo>
                  <a:pt x="4563959" y="4563959"/>
                </a:lnTo>
                <a:lnTo>
                  <a:pt x="0" y="4563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38235" y="4167183"/>
            <a:ext cx="6119817" cy="6119817"/>
          </a:xfrm>
          <a:custGeom>
            <a:avLst/>
            <a:gdLst/>
            <a:ahLst/>
            <a:cxnLst/>
            <a:rect r="r" b="b" t="t" l="l"/>
            <a:pathLst>
              <a:path h="6119817" w="6119817">
                <a:moveTo>
                  <a:pt x="0" y="0"/>
                </a:moveTo>
                <a:lnTo>
                  <a:pt x="6119817" y="0"/>
                </a:lnTo>
                <a:lnTo>
                  <a:pt x="6119817" y="6119817"/>
                </a:lnTo>
                <a:lnTo>
                  <a:pt x="0" y="611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9002" y="1021027"/>
            <a:ext cx="9265973" cy="9265973"/>
          </a:xfrm>
          <a:custGeom>
            <a:avLst/>
            <a:gdLst/>
            <a:ahLst/>
            <a:cxnLst/>
            <a:rect r="r" b="b" t="t" l="l"/>
            <a:pathLst>
              <a:path h="9265973" w="9265973">
                <a:moveTo>
                  <a:pt x="0" y="0"/>
                </a:moveTo>
                <a:lnTo>
                  <a:pt x="9265973" y="0"/>
                </a:lnTo>
                <a:lnTo>
                  <a:pt x="9265973" y="9265973"/>
                </a:lnTo>
                <a:lnTo>
                  <a:pt x="0" y="9265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2815" y="2259330"/>
            <a:ext cx="14602371" cy="562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Co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ntrol de Re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ct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iv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os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 "Corazón" de la operación: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Los núcleos de alta densidad revelan la ventana conservadora (setpoint) donde se mantienen fijas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las válv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ulas dosificadoras.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El límite del PID: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Al mantener el reactivo estático (fijo en el eje X), la pureza sufre variaciones (dispersión vertical en el eje Y).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Respuesta química: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Se demuestra gráficamente que la relación no es lineal; inyectar más químico a ciegas no garantiza mayor pureza.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0" y="-5152025"/>
            <a:ext cx="18600791" cy="18600791"/>
          </a:xfrm>
          <a:custGeom>
            <a:avLst/>
            <a:gdLst/>
            <a:ahLst/>
            <a:cxnLst/>
            <a:rect r="r" b="b" t="t" l="l"/>
            <a:pathLst>
              <a:path h="18600791" w="18600791">
                <a:moveTo>
                  <a:pt x="0" y="18600792"/>
                </a:moveTo>
                <a:lnTo>
                  <a:pt x="18600791" y="18600792"/>
                </a:lnTo>
                <a:lnTo>
                  <a:pt x="18600791" y="0"/>
                </a:lnTo>
                <a:lnTo>
                  <a:pt x="0" y="0"/>
                </a:lnTo>
                <a:lnTo>
                  <a:pt x="0" y="186007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609959" y="9608959"/>
            <a:ext cx="435801" cy="435801"/>
          </a:xfrm>
          <a:custGeom>
            <a:avLst/>
            <a:gdLst/>
            <a:ahLst/>
            <a:cxnLst/>
            <a:rect r="r" b="b" t="t" l="l"/>
            <a:pathLst>
              <a:path h="435801" w="435801">
                <a:moveTo>
                  <a:pt x="0" y="435802"/>
                </a:moveTo>
                <a:lnTo>
                  <a:pt x="435802" y="435802"/>
                </a:lnTo>
                <a:lnTo>
                  <a:pt x="435802" y="0"/>
                </a:lnTo>
                <a:lnTo>
                  <a:pt x="0" y="0"/>
                </a:lnTo>
                <a:lnTo>
                  <a:pt x="0" y="435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442497"/>
            <a:ext cx="18288000" cy="7402006"/>
          </a:xfrm>
          <a:custGeom>
            <a:avLst/>
            <a:gdLst/>
            <a:ahLst/>
            <a:cxnLst/>
            <a:rect r="r" b="b" t="t" l="l"/>
            <a:pathLst>
              <a:path h="7402006" w="18288000">
                <a:moveTo>
                  <a:pt x="0" y="0"/>
                </a:moveTo>
                <a:lnTo>
                  <a:pt x="18288000" y="0"/>
                </a:lnTo>
                <a:lnTo>
                  <a:pt x="18288000" y="7402006"/>
                </a:lnTo>
                <a:lnTo>
                  <a:pt x="0" y="7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5723041"/>
            <a:ext cx="4563959" cy="4563959"/>
          </a:xfrm>
          <a:custGeom>
            <a:avLst/>
            <a:gdLst/>
            <a:ahLst/>
            <a:cxnLst/>
            <a:rect r="r" b="b" t="t" l="l"/>
            <a:pathLst>
              <a:path h="4563959" w="4563959">
                <a:moveTo>
                  <a:pt x="0" y="0"/>
                </a:moveTo>
                <a:lnTo>
                  <a:pt x="4563959" y="0"/>
                </a:lnTo>
                <a:lnTo>
                  <a:pt x="4563959" y="4563959"/>
                </a:lnTo>
                <a:lnTo>
                  <a:pt x="0" y="4563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38235" y="4167183"/>
            <a:ext cx="6119817" cy="6119817"/>
          </a:xfrm>
          <a:custGeom>
            <a:avLst/>
            <a:gdLst/>
            <a:ahLst/>
            <a:cxnLst/>
            <a:rect r="r" b="b" t="t" l="l"/>
            <a:pathLst>
              <a:path h="6119817" w="6119817">
                <a:moveTo>
                  <a:pt x="0" y="0"/>
                </a:moveTo>
                <a:lnTo>
                  <a:pt x="6119817" y="0"/>
                </a:lnTo>
                <a:lnTo>
                  <a:pt x="6119817" y="6119817"/>
                </a:lnTo>
                <a:lnTo>
                  <a:pt x="0" y="611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9002" y="1021027"/>
            <a:ext cx="9265973" cy="9265973"/>
          </a:xfrm>
          <a:custGeom>
            <a:avLst/>
            <a:gdLst/>
            <a:ahLst/>
            <a:cxnLst/>
            <a:rect r="r" b="b" t="t" l="l"/>
            <a:pathLst>
              <a:path h="9265973" w="9265973">
                <a:moveTo>
                  <a:pt x="0" y="0"/>
                </a:moveTo>
                <a:lnTo>
                  <a:pt x="9265973" y="0"/>
                </a:lnTo>
                <a:lnTo>
                  <a:pt x="9265973" y="9265973"/>
                </a:lnTo>
                <a:lnTo>
                  <a:pt x="0" y="9265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2815" y="1945005"/>
            <a:ext cx="14602371" cy="625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0"/>
              </a:lnSpc>
              <a:spcBef>
                <a:spcPct val="0"/>
              </a:spcBef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Validació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n Matemática y el Sa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lto Predi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ctivo</a:t>
            </a: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eparación confirmada: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La correlación inversa (-0.80) entre Hierro y Sílice valida matemáticamente el circuito.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Saturación: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La b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aj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 correlación de los reactivos con el producto final confirma que el lazo tradicional actúa tarde.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La solución (Machine Learning):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Se justifica implementar un control anticipativo (Feed-Forward) que lea la mineralogía de entrada para variar los químicos dinámicamente.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5020778" y="4078364"/>
            <a:ext cx="6208636" cy="6208636"/>
          </a:xfrm>
          <a:custGeom>
            <a:avLst/>
            <a:gdLst/>
            <a:ahLst/>
            <a:cxnLst/>
            <a:rect r="r" b="b" t="t" l="l"/>
            <a:pathLst>
              <a:path h="6208636" w="6208636">
                <a:moveTo>
                  <a:pt x="0" y="6208636"/>
                </a:moveTo>
                <a:lnTo>
                  <a:pt x="6208636" y="6208636"/>
                </a:lnTo>
                <a:lnTo>
                  <a:pt x="6208636" y="0"/>
                </a:lnTo>
                <a:lnTo>
                  <a:pt x="0" y="0"/>
                </a:lnTo>
                <a:lnTo>
                  <a:pt x="0" y="62086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3267222" y="3675407"/>
            <a:ext cx="11753555" cy="11753555"/>
          </a:xfrm>
          <a:custGeom>
            <a:avLst/>
            <a:gdLst/>
            <a:ahLst/>
            <a:cxnLst/>
            <a:rect r="r" b="b" t="t" l="l"/>
            <a:pathLst>
              <a:path h="11753555" w="11753555">
                <a:moveTo>
                  <a:pt x="0" y="11753555"/>
                </a:moveTo>
                <a:lnTo>
                  <a:pt x="11753556" y="11753555"/>
                </a:lnTo>
                <a:lnTo>
                  <a:pt x="11753556" y="0"/>
                </a:lnTo>
                <a:lnTo>
                  <a:pt x="0" y="0"/>
                </a:lnTo>
                <a:lnTo>
                  <a:pt x="0" y="117535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-2941414" y="4078364"/>
            <a:ext cx="6208636" cy="6208636"/>
          </a:xfrm>
          <a:custGeom>
            <a:avLst/>
            <a:gdLst/>
            <a:ahLst/>
            <a:cxnLst/>
            <a:rect r="r" b="b" t="t" l="l"/>
            <a:pathLst>
              <a:path h="6208636" w="6208636">
                <a:moveTo>
                  <a:pt x="0" y="6208636"/>
                </a:moveTo>
                <a:lnTo>
                  <a:pt x="6208636" y="6208636"/>
                </a:lnTo>
                <a:lnTo>
                  <a:pt x="6208636" y="0"/>
                </a:lnTo>
                <a:lnTo>
                  <a:pt x="0" y="0"/>
                </a:lnTo>
                <a:lnTo>
                  <a:pt x="0" y="62086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7609959" y="9608959"/>
            <a:ext cx="435801" cy="435801"/>
          </a:xfrm>
          <a:custGeom>
            <a:avLst/>
            <a:gdLst/>
            <a:ahLst/>
            <a:cxnLst/>
            <a:rect r="r" b="b" t="t" l="l"/>
            <a:pathLst>
              <a:path h="435801" w="435801">
                <a:moveTo>
                  <a:pt x="0" y="435802"/>
                </a:moveTo>
                <a:lnTo>
                  <a:pt x="435802" y="435802"/>
                </a:lnTo>
                <a:lnTo>
                  <a:pt x="435802" y="0"/>
                </a:lnTo>
                <a:lnTo>
                  <a:pt x="0" y="0"/>
                </a:lnTo>
                <a:lnTo>
                  <a:pt x="0" y="435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26177" y="0"/>
            <a:ext cx="12235646" cy="10044761"/>
          </a:xfrm>
          <a:custGeom>
            <a:avLst/>
            <a:gdLst/>
            <a:ahLst/>
            <a:cxnLst/>
            <a:rect r="r" b="b" t="t" l="l"/>
            <a:pathLst>
              <a:path h="10044761" w="12235646">
                <a:moveTo>
                  <a:pt x="0" y="0"/>
                </a:moveTo>
                <a:lnTo>
                  <a:pt x="12235646" y="0"/>
                </a:lnTo>
                <a:lnTo>
                  <a:pt x="12235646" y="10044761"/>
                </a:lnTo>
                <a:lnTo>
                  <a:pt x="0" y="100447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18" r="0" b="-33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3450" y="8642450"/>
            <a:ext cx="1231699" cy="1231699"/>
          </a:xfrm>
          <a:custGeom>
            <a:avLst/>
            <a:gdLst/>
            <a:ahLst/>
            <a:cxnLst/>
            <a:rect r="r" b="b" t="t" l="l"/>
            <a:pathLst>
              <a:path h="1231699" w="1231699">
                <a:moveTo>
                  <a:pt x="0" y="0"/>
                </a:moveTo>
                <a:lnTo>
                  <a:pt x="1231700" y="0"/>
                </a:lnTo>
                <a:lnTo>
                  <a:pt x="1231700" y="1231700"/>
                </a:lnTo>
                <a:lnTo>
                  <a:pt x="0" y="12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9886"/>
            <a:ext cx="14011848" cy="82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DIAGNÓSTICO OPERATIVO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075" y="1606479"/>
            <a:ext cx="17045851" cy="625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lta Eficiencia Global: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La planta cuenta con una b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ase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só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lida, donde el 74.7% de la pro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ducción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zada califica como mineral de "Alta Pureza" (Sílice &lt; 3.0%).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Estabilidad frente 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al Factor Humano: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El análisis e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ad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onfirmó que el control de planta absorbe sin problemas las transiciones de guardia. La pureza de hierro se mantiene constante (~65%) tanto en el turno día como en la noche.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Correlación Física Validada: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El análisis matemático (Heatmap) demostró una fuerte correlación inversa (-0.80) entre el hierro y la sílice final, confirmando que la separación metalúrgica funciona de manera óptima ("Efecto Espejo").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18" r="0" b="-33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3450" y="8642450"/>
            <a:ext cx="1231699" cy="1231699"/>
          </a:xfrm>
          <a:custGeom>
            <a:avLst/>
            <a:gdLst/>
            <a:ahLst/>
            <a:cxnLst/>
            <a:rect r="r" b="b" t="t" l="l"/>
            <a:pathLst>
              <a:path h="1231699" w="1231699">
                <a:moveTo>
                  <a:pt x="0" y="0"/>
                </a:moveTo>
                <a:lnTo>
                  <a:pt x="1231700" y="0"/>
                </a:lnTo>
                <a:lnTo>
                  <a:pt x="1231700" y="1231700"/>
                </a:lnTo>
                <a:lnTo>
                  <a:pt x="0" y="12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9886"/>
            <a:ext cx="14011848" cy="82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LÍMITE DE CONTROL Y SOLUCIÓN PREDICTIVA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075" y="1630680"/>
            <a:ext cx="17045851" cy="688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Sa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turación del Lazo PID: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Los map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as de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dens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idad revelan que la opera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ción m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ant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iene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los reactivos en una ventana estática. Quedó demostrado que la química no e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 lineal: inyectar más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cieg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garantiza reducir la impureza.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Reacción v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s. An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t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icipac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ión: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El sistema de control actual es reactivo; ajusta las válvulas cuando el mineral ya pasó, lo que genera oscilaciones y sobrecostos por exceso de químicos.</a:t>
            </a:r>
          </a:p>
          <a:p>
            <a:pPr algn="just">
              <a:lnSpc>
                <a:spcPts val="498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9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El Salto al Machine L</a:t>
            </a:r>
            <a:r>
              <a:rPr lang="en-US" b="true" sz="3000" strike="noStrike" u="none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earning: 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Se justifica implementar</a:t>
            </a:r>
            <a:r>
              <a:rPr lang="en-US" sz="3000" strike="noStrike" u="non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modelos predictivos (Control Feed-Forward) que lean las condiciones de entrada del mineral y ajusten dinámicamente la dosificación de amina y almidón en tiempo real, optimizando así el consumo y estabilizando el 25% de la producción restante.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18" r="0" b="-33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97443"/>
            <a:ext cx="5764697" cy="7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1"/>
              </a:lnSpc>
              <a:spcBef>
                <a:spcPct val="0"/>
              </a:spcBef>
            </a:pPr>
            <a:r>
              <a:rPr lang="en-US" sz="4122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DIPLOMATURA EN 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526617" y="556052"/>
            <a:ext cx="3732683" cy="3732683"/>
          </a:xfrm>
          <a:custGeom>
            <a:avLst/>
            <a:gdLst/>
            <a:ahLst/>
            <a:cxnLst/>
            <a:rect r="r" b="b" t="t" l="l"/>
            <a:pathLst>
              <a:path h="3732683" w="3732683">
                <a:moveTo>
                  <a:pt x="0" y="0"/>
                </a:moveTo>
                <a:lnTo>
                  <a:pt x="3732683" y="0"/>
                </a:lnTo>
                <a:lnTo>
                  <a:pt x="3732683" y="3732683"/>
                </a:lnTo>
                <a:lnTo>
                  <a:pt x="0" y="3732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327143"/>
            <a:ext cx="6213192" cy="7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1"/>
              </a:lnSpc>
              <a:spcBef>
                <a:spcPct val="0"/>
              </a:spcBef>
            </a:pPr>
            <a:r>
              <a:rPr lang="en-US" sz="4122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TRABAJO PRACTICO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67578"/>
            <a:ext cx="9456157" cy="112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8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Análisis Exploratorio de Datos (EDA) - </a:t>
            </a:r>
          </a:p>
          <a:p>
            <a:pPr algn="l">
              <a:lnSpc>
                <a:spcPts val="4450"/>
              </a:lnSpc>
              <a:spcBef>
                <a:spcPct val="0"/>
              </a:spcBef>
            </a:pPr>
            <a:r>
              <a:rPr lang="en-US" sz="3178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Planta de Flotación (Proceso Minero)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3380"/>
            <a:ext cx="7593177" cy="7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1"/>
              </a:lnSpc>
              <a:spcBef>
                <a:spcPct val="0"/>
              </a:spcBef>
            </a:pPr>
            <a:r>
              <a:rPr lang="en-US" b="true" sz="4122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UNIVERSIDAD DE PALERMO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54288" y="5455084"/>
            <a:ext cx="12179425" cy="1713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4"/>
              </a:lnSpc>
              <a:spcBef>
                <a:spcPct val="0"/>
              </a:spcBef>
            </a:pPr>
            <a:r>
              <a:rPr lang="en-US" b="true" sz="9838">
                <a:solidFill>
                  <a:srgbClr val="F5F5F5"/>
                </a:solidFill>
                <a:latin typeface="Arial Bold"/>
                <a:ea typeface="Arial Bold"/>
                <a:cs typeface="Arial Bold"/>
                <a:sym typeface="Arial Bold"/>
              </a:rPr>
              <a:t>MUCHAS GRACIAS!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444709"/>
            <a:ext cx="6046182" cy="82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sz="471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Alumno: Cocha Jorge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DAHLAU3lZBc</dc:identifier>
  <dcterms:modified xsi:type="dcterms:W3CDTF">2011-08-01T06:04:30Z</dcterms:modified>
  <cp:revision>1</cp:revision>
  <dc:title>TP 1 Diplomatura Cocha</dc:title>
</cp:coreProperties>
</file>